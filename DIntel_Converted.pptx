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65760"/>
            <a:ext cx="2011680" cy="2011680"/>
          </a:xfrm>
          <a:prstGeom prst="rect">
            <a:avLst/>
          </a:prstGeom>
          <a:solidFill>
            <a:srgbClr val="0D1B3E"/>
          </a:solidFill>
          <a:ln w="19050">
            <a:solidFill>
              <a:srgbClr val="2A50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731520"/>
            <a:ext cx="1645920" cy="164592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2377440"/>
            <a:ext cx="502920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411480"/>
            <a:ext cx="2560320" cy="347472"/>
          </a:xfrm>
          <a:prstGeom prst="roundRect">
            <a:avLst>
              <a:gd name="adj" fmla="val 39474"/>
            </a:avLst>
          </a:prstGeom>
          <a:solidFill>
            <a:srgbClr val="1A2E5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4114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CIO, CTO &amp; PMO LEADERS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097280"/>
            <a:ext cx="54864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280160"/>
            <a:ext cx="5943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Delivery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02920" y="3090672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scattered delivery signals to confident executive decisions.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3639312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B9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Jira, Azure DevOps, ServiceNow, and CI/CD data into portfolio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B9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on pace, risk, quality, and milestones.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47548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  •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-365760"/>
            <a:ext cx="1645920" cy="1645920"/>
          </a:xfrm>
          <a:prstGeom prst="ellipse">
            <a:avLst/>
          </a:prstGeom>
          <a:solidFill>
            <a:srgbClr val="16204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371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914400"/>
            <a:ext cx="50292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78992"/>
            <a:ext cx="2834640" cy="38587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283464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2618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127101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96112" y="156362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extraction gap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21305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96112" y="213969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96112" y="243230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 capabilities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9992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96112" y="300837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96112" y="330098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we ingest &amp; interpret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38679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96112" y="387705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Synthesis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96112" y="416966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noise to narrative (Before/After)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46120" y="1078992"/>
            <a:ext cx="2834640" cy="38587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1078992"/>
            <a:ext cx="2834640" cy="6400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22" name="Text 20"/>
          <p:cNvSpPr/>
          <p:nvPr/>
        </p:nvSpPr>
        <p:spPr>
          <a:xfrm>
            <a:off x="3410712" y="12618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867912" y="127101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Summary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67912" y="156362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sprint insights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10712" y="21305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867912" y="213969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Review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67912" y="243230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packet, not status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410712" y="29992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867912" y="300837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Risk Scoring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867912" y="330098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risks &amp; why they happen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410712" y="38679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867912" y="387705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Summaries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867912" y="416966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synthesis &amp; reporting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17920" y="1078992"/>
            <a:ext cx="2834640" cy="38587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17920" y="1078992"/>
            <a:ext cx="2834640" cy="6400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6" name="Text 34"/>
          <p:cNvSpPr/>
          <p:nvPr/>
        </p:nvSpPr>
        <p:spPr>
          <a:xfrm>
            <a:off x="6382512" y="12618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839712" y="127101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39712" y="156362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Surfacing abnormal patterns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382512" y="21305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839712" y="213969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839712" y="243230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&amp; human-in-the-loop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382512" y="29992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839712" y="300837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839712" y="330098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and executive ROI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382512" y="38679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6839712" y="387705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839712" y="416966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scope &amp; timeline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27432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Not a data shortage—a signal extraction gap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411480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344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Operational Data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already have the data, but it 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across disconnected tools, creating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overwhelming noise.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" y="2331720"/>
            <a:ext cx="1097280" cy="292608"/>
          </a:xfrm>
          <a:prstGeom prst="roundRect">
            <a:avLst>
              <a:gd name="adj" fmla="val 31250"/>
            </a:avLst>
          </a:prstGeom>
          <a:solidFill>
            <a:srgbClr val="E8EDF3"/>
          </a:solidFill>
          <a:ln w="6350">
            <a:solidFill>
              <a:srgbClr val="C0CA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233172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Jira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389888" y="2331720"/>
            <a:ext cx="1316736" cy="292608"/>
          </a:xfrm>
          <a:prstGeom prst="roundRect">
            <a:avLst>
              <a:gd name="adj" fmla="val 31250"/>
            </a:avLst>
          </a:prstGeom>
          <a:solidFill>
            <a:srgbClr val="E8EDF3"/>
          </a:solidFill>
          <a:ln w="6350">
            <a:solidFill>
              <a:srgbClr val="C0CA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89888" y="2331720"/>
            <a:ext cx="1316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⊞  Azure DevOps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33472" y="2331720"/>
            <a:ext cx="1316736" cy="292608"/>
          </a:xfrm>
          <a:prstGeom prst="roundRect">
            <a:avLst>
              <a:gd name="adj" fmla="val 31250"/>
            </a:avLst>
          </a:prstGeom>
          <a:solidFill>
            <a:srgbClr val="E8EDF3"/>
          </a:solidFill>
          <a:ln w="6350">
            <a:solidFill>
              <a:srgbClr val="C0CA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33472" y="2331720"/>
            <a:ext cx="1316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  ServiceNow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8912" y="2706624"/>
            <a:ext cx="1005840" cy="292608"/>
          </a:xfrm>
          <a:prstGeom prst="roundRect">
            <a:avLst>
              <a:gd name="adj" fmla="val 31250"/>
            </a:avLst>
          </a:prstGeom>
          <a:solidFill>
            <a:srgbClr val="E8EDF3"/>
          </a:solidFill>
          <a:ln w="6350">
            <a:solidFill>
              <a:srgbClr val="C0CA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70662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Git Repos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508760" y="2706624"/>
            <a:ext cx="1005840" cy="292608"/>
          </a:xfrm>
          <a:prstGeom prst="roundRect">
            <a:avLst>
              <a:gd name="adj" fmla="val 31250"/>
            </a:avLst>
          </a:prstGeom>
          <a:solidFill>
            <a:srgbClr val="E8EDF3"/>
          </a:solidFill>
          <a:ln w="6350">
            <a:solidFill>
              <a:srgbClr val="C0CA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08760" y="270662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CI/CD Pipelines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38912" y="3081528"/>
            <a:ext cx="1005840" cy="292608"/>
          </a:xfrm>
          <a:prstGeom prst="roundRect">
            <a:avLst>
              <a:gd name="adj" fmla="val 31250"/>
            </a:avLst>
          </a:prstGeom>
          <a:solidFill>
            <a:srgbClr val="E8EDF3"/>
          </a:solidFill>
          <a:ln w="6350">
            <a:solidFill>
              <a:srgbClr val="C0CA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0815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 Test Tools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508760" y="3081528"/>
            <a:ext cx="1417320" cy="292608"/>
          </a:xfrm>
          <a:prstGeom prst="roundRect">
            <a:avLst>
              <a:gd name="adj" fmla="val 31250"/>
            </a:avLst>
          </a:prstGeom>
          <a:solidFill>
            <a:srgbClr val="E8EDF3"/>
          </a:solidFill>
          <a:ln w="6350">
            <a:solidFill>
              <a:srgbClr val="C0CA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08760" y="3081528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Manual Status Decks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34564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Thousands of tickets, PRs, and incidents without context.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480560" y="2606040"/>
            <a:ext cx="50292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4" name="Shape 22"/>
          <p:cNvSpPr/>
          <p:nvPr/>
        </p:nvSpPr>
        <p:spPr>
          <a:xfrm>
            <a:off x="4892040" y="2478024"/>
            <a:ext cx="54864" cy="31089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Shape 23"/>
          <p:cNvSpPr/>
          <p:nvPr/>
        </p:nvSpPr>
        <p:spPr>
          <a:xfrm>
            <a:off x="4892040" y="2478024"/>
            <a:ext cx="18288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6" name="Shape 24"/>
          <p:cNvSpPr/>
          <p:nvPr/>
        </p:nvSpPr>
        <p:spPr>
          <a:xfrm>
            <a:off x="4892040" y="2734056"/>
            <a:ext cx="18288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4315968" y="276148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349240" y="1115568"/>
            <a:ext cx="3520440" cy="3337560"/>
          </a:xfrm>
          <a:prstGeom prst="rect">
            <a:avLst/>
          </a:prstGeom>
          <a:solidFill>
            <a:srgbClr val="1A2B5A"/>
          </a:solidFill>
          <a:ln/>
        </p:spPr>
      </p:sp>
      <p:sp>
        <p:nvSpPr>
          <p:cNvPr id="29" name="Text 27"/>
          <p:cNvSpPr/>
          <p:nvPr/>
        </p:nvSpPr>
        <p:spPr>
          <a:xfrm>
            <a:off x="5532120" y="12801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Leadership Answers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532120" y="16459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require synthesized, portfolio-level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to make rapid decisions: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532120" y="2176272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833872" y="217627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on track, at risk, or off track?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32120" y="2688336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833872" y="268833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it trending that way?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532120" y="320040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833872" y="32004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needs immediate intervention?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532120" y="3712464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833872" y="371246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business milestones are likely to move?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" y="4553712"/>
            <a:ext cx="8595360" cy="457200"/>
          </a:xfrm>
          <a:prstGeom prst="rect">
            <a:avLst/>
          </a:prstGeom>
          <a:solidFill>
            <a:srgbClr val="E8EDF8"/>
          </a:solidFill>
          <a:ln w="6350">
            <a:solidFill>
              <a:srgbClr val="C5D0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553712"/>
            <a:ext cx="54864" cy="457200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41" name="Text 39"/>
          <p:cNvSpPr/>
          <p:nvPr/>
        </p:nvSpPr>
        <p:spPr>
          <a:xfrm>
            <a:off x="411480" y="455371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buNone/>
            </a:pPr>
            <a:r>
              <a:rPr lang="en-US" sz="10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dashboards often show four separate charts. Leadership needs the </a:t>
            </a:r>
            <a:pPr indent="0" marL="0">
              <a:buNone/>
            </a:pPr>
            <a:r>
              <a:rPr lang="en-US" sz="10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synthesized conclusion</a:t>
            </a:r>
            <a:pPr indent="0" marL="0">
              <a:buNone/>
            </a:pPr>
            <a:r>
              <a:rPr lang="en-US" sz="10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27432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A Delivery Intelligence Layer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475488"/>
          </a:xfrm>
          <a:prstGeom prst="rect">
            <a:avLst/>
          </a:prstGeom>
          <a:solidFill>
            <a:srgbClr val="EBF0FB"/>
          </a:solidFill>
          <a:ln w="6350">
            <a:solidFill>
              <a:srgbClr val="C5D0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54864" cy="475488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601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⊙  </a:t>
            </a:r>
            <a:pPr indent="0" marL="0">
              <a:buNone/>
            </a:pPr>
            <a:r>
              <a:rPr lang="en-US" sz="1100" b="1" dirty="0">
                <a:solidFill>
                  <a:srgbClr val="2A3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Purpose: Convert scattered operational signals into a small number of clear leadership answers.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554480"/>
            <a:ext cx="2743200" cy="3429000"/>
          </a:xfrm>
          <a:prstGeom prst="rect">
            <a:avLst/>
          </a:prstGeom>
          <a:solidFill>
            <a:srgbClr val="FFFFFF"/>
          </a:solidFill>
          <a:ln w="3810">
            <a:solidFill>
              <a:srgbClr val="D5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554480"/>
            <a:ext cx="2743200" cy="54864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" y="1664208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FOUNDATION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84048" y="2084832"/>
            <a:ext cx="2514600" cy="13258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2" name="Shape 10"/>
          <p:cNvSpPr/>
          <p:nvPr/>
        </p:nvSpPr>
        <p:spPr>
          <a:xfrm>
            <a:off x="384048" y="2084832"/>
            <a:ext cx="54864" cy="132588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21579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215798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 &amp; Normalize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" y="2542032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fragmented data across Jira, ADO, ServiceNow, and Git into one format.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4048" y="3529584"/>
            <a:ext cx="2514600" cy="13258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7" name="Shape 15"/>
          <p:cNvSpPr/>
          <p:nvPr/>
        </p:nvSpPr>
        <p:spPr>
          <a:xfrm>
            <a:off x="384048" y="3529584"/>
            <a:ext cx="54864" cy="132588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" y="36027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360273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Signals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" y="3986784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siloed events like code churn, major incidents, and blocked sprint items.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82112" y="1554480"/>
            <a:ext cx="2743200" cy="3429000"/>
          </a:xfrm>
          <a:prstGeom prst="rect">
            <a:avLst/>
          </a:prstGeom>
          <a:solidFill>
            <a:srgbClr val="EBF6FF"/>
          </a:solidFill>
          <a:ln w="3810">
            <a:solidFill>
              <a:srgbClr val="D5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82112" y="1554480"/>
            <a:ext cx="27432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1664208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AI SYNTHESIS ENGINE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91840" y="2084832"/>
            <a:ext cx="2514600" cy="1325880"/>
          </a:xfrm>
          <a:prstGeom prst="rect">
            <a:avLst/>
          </a:prstGeom>
          <a:solidFill>
            <a:srgbClr val="D8EEFF"/>
          </a:solidFill>
          <a:ln/>
        </p:spPr>
      </p:sp>
      <p:sp>
        <p:nvSpPr>
          <p:cNvPr id="25" name="Shape 23"/>
          <p:cNvSpPr/>
          <p:nvPr/>
        </p:nvSpPr>
        <p:spPr>
          <a:xfrm>
            <a:off x="3291840" y="2084832"/>
            <a:ext cx="54864" cy="13258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0" y="21579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776472" y="215798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 Root Causes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83280" y="2542032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underlying patterns, like high defect leakage tied to rushed PRs.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91840" y="3529584"/>
            <a:ext cx="2514600" cy="1325880"/>
          </a:xfrm>
          <a:prstGeom prst="rect">
            <a:avLst/>
          </a:prstGeom>
          <a:solidFill>
            <a:srgbClr val="D8EEFF"/>
          </a:solidFill>
          <a:ln/>
        </p:spPr>
      </p:sp>
      <p:sp>
        <p:nvSpPr>
          <p:cNvPr id="30" name="Shape 28"/>
          <p:cNvSpPr/>
          <p:nvPr/>
        </p:nvSpPr>
        <p:spPr>
          <a:xfrm>
            <a:off x="3291840" y="3529584"/>
            <a:ext cx="54864" cy="13258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1" name="Text 29"/>
          <p:cNvSpPr/>
          <p:nvPr/>
        </p:nvSpPr>
        <p:spPr>
          <a:xfrm>
            <a:off x="3383280" y="36027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776472" y="360273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Impacts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83280" y="3986784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business milestone shifts and roadmap confidence based on current trajectory.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89904" y="1554480"/>
            <a:ext cx="2743200" cy="3429000"/>
          </a:xfrm>
          <a:prstGeom prst="rect">
            <a:avLst/>
          </a:prstGeom>
          <a:solidFill>
            <a:srgbClr val="FFFFFF"/>
          </a:solidFill>
          <a:ln w="3810">
            <a:solidFill>
              <a:srgbClr val="D5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89904" y="1554480"/>
            <a:ext cx="27432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6" name="Text 34"/>
          <p:cNvSpPr/>
          <p:nvPr/>
        </p:nvSpPr>
        <p:spPr>
          <a:xfrm>
            <a:off x="6199632" y="1664208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LEADERSHIP ACTIONS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99632" y="2084832"/>
            <a:ext cx="2514600" cy="13258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38" name="Shape 36"/>
          <p:cNvSpPr/>
          <p:nvPr/>
        </p:nvSpPr>
        <p:spPr>
          <a:xfrm>
            <a:off x="6199632" y="2084832"/>
            <a:ext cx="54864" cy="13258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9" name="Text 37"/>
          <p:cNvSpPr/>
          <p:nvPr/>
        </p:nvSpPr>
        <p:spPr>
          <a:xfrm>
            <a:off x="6291072" y="21579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684264" y="215798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Interventions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91072" y="2542032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exact dependencies or blockages needing leadership escalation.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99632" y="3529584"/>
            <a:ext cx="2514600" cy="13258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43" name="Shape 41"/>
          <p:cNvSpPr/>
          <p:nvPr/>
        </p:nvSpPr>
        <p:spPr>
          <a:xfrm>
            <a:off x="6199632" y="3529584"/>
            <a:ext cx="54864" cy="13258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4" name="Text 42"/>
          <p:cNvSpPr/>
          <p:nvPr/>
        </p:nvSpPr>
        <p:spPr>
          <a:xfrm>
            <a:off x="6291072" y="36027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684264" y="360273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Reports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291072" y="3986784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tailored summaries for Scrum Masters, PMOs, and C-level sponsors.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971800" y="3172968"/>
            <a:ext cx="210312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8" name="Shape 46"/>
          <p:cNvSpPr/>
          <p:nvPr/>
        </p:nvSpPr>
        <p:spPr>
          <a:xfrm>
            <a:off x="3127248" y="3063240"/>
            <a:ext cx="54864" cy="2743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9" name="Shape 47"/>
          <p:cNvSpPr/>
          <p:nvPr/>
        </p:nvSpPr>
        <p:spPr>
          <a:xfrm>
            <a:off x="3127248" y="3063240"/>
            <a:ext cx="118872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50" name="Shape 48"/>
          <p:cNvSpPr/>
          <p:nvPr/>
        </p:nvSpPr>
        <p:spPr>
          <a:xfrm>
            <a:off x="3127248" y="3282696"/>
            <a:ext cx="118872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51" name="Shape 49"/>
          <p:cNvSpPr/>
          <p:nvPr/>
        </p:nvSpPr>
        <p:spPr>
          <a:xfrm>
            <a:off x="5879592" y="3172968"/>
            <a:ext cx="210312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52" name="Shape 50"/>
          <p:cNvSpPr/>
          <p:nvPr/>
        </p:nvSpPr>
        <p:spPr>
          <a:xfrm>
            <a:off x="6035040" y="3063240"/>
            <a:ext cx="54864" cy="2743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53" name="Shape 51"/>
          <p:cNvSpPr/>
          <p:nvPr/>
        </p:nvSpPr>
        <p:spPr>
          <a:xfrm>
            <a:off x="6035040" y="3063240"/>
            <a:ext cx="118872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54" name="Shape 52"/>
          <p:cNvSpPr/>
          <p:nvPr/>
        </p:nvSpPr>
        <p:spPr>
          <a:xfrm>
            <a:off x="6035040" y="3282696"/>
            <a:ext cx="118872" cy="54864"/>
          </a:xfrm>
          <a:prstGeom prst="rect">
            <a:avLst/>
          </a:prstGeom>
          <a:solidFill>
            <a:srgbClr val="1565C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27432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Ingest and Interpret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703320" y="1965960"/>
            <a:ext cx="1737360" cy="1737360"/>
          </a:xfrm>
          <a:prstGeom prst="ellipse">
            <a:avLst/>
          </a:prstGeom>
          <a:solidFill>
            <a:srgbClr val="00B4D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0" y="2103120"/>
            <a:ext cx="1463040" cy="1463040"/>
          </a:xfrm>
          <a:prstGeom prst="ellipse">
            <a:avLst/>
          </a:prstGeom>
          <a:solidFill>
            <a:srgbClr val="0D1B3E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0" y="21945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566160" y="2834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Synthesis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1078992"/>
            <a:ext cx="32461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078992"/>
            <a:ext cx="3246120" cy="457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117043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Jira / Azure DevOps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84048" y="1581912"/>
            <a:ext cx="14584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goal progress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" y="1874520"/>
            <a:ext cx="14584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vs completed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2167128"/>
            <a:ext cx="14584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Spillover &amp; story aging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" y="2459736"/>
            <a:ext cx="14584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items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943100" y="1581912"/>
            <a:ext cx="14584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progress tracking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43100" y="1874520"/>
            <a:ext cx="14584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Dependency-linked items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943100" y="2167128"/>
            <a:ext cx="14584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work volume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43100" y="2459736"/>
            <a:ext cx="14584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health metrics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23560" y="1078992"/>
            <a:ext cx="32461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23560" y="1078992"/>
            <a:ext cx="3246120" cy="45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2" name="Text 20"/>
          <p:cNvSpPr/>
          <p:nvPr/>
        </p:nvSpPr>
        <p:spPr>
          <a:xfrm>
            <a:off x="5733288" y="117043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 ServiceNow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733288" y="1581912"/>
            <a:ext cx="3017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trends and frequency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733288" y="1837944"/>
            <a:ext cx="3017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incidents and problem records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733288" y="2093976"/>
            <a:ext cx="3017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failures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733288" y="2350008"/>
            <a:ext cx="3017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burden categorized by application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733288" y="2606040"/>
            <a:ext cx="3017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operational pain points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081528"/>
            <a:ext cx="32461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081528"/>
            <a:ext cx="3246120" cy="457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0" name="Text 28"/>
          <p:cNvSpPr/>
          <p:nvPr/>
        </p:nvSpPr>
        <p:spPr>
          <a:xfrm>
            <a:off x="384048" y="317296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Git / CI-CD &amp; Test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84048" y="3584448"/>
            <a:ext cx="14584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frequency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84048" y="3877056"/>
            <a:ext cx="14584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deployments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4048" y="4169664"/>
            <a:ext cx="14584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churn spikes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84048" y="4462272"/>
            <a:ext cx="14584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aging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43100" y="3584448"/>
            <a:ext cx="14584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instability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943100" y="3877056"/>
            <a:ext cx="14584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failure trends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943100" y="4169664"/>
            <a:ext cx="14584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patterns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623560" y="3081528"/>
            <a:ext cx="32461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623560" y="3081528"/>
            <a:ext cx="3246120" cy="457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0" name="Text 38"/>
          <p:cNvSpPr/>
          <p:nvPr/>
        </p:nvSpPr>
        <p:spPr>
          <a:xfrm>
            <a:off x="5733288" y="317296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Manual Status Updates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733288" y="3584448"/>
            <a:ext cx="3017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and assumptions logs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733288" y="3840480"/>
            <a:ext cx="3017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leadership asks / requirements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733288" y="4096512"/>
            <a:ext cx="3017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dependencies and concerns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733288" y="4352544"/>
            <a:ext cx="3017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/ resource constraints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733288" y="4608576"/>
            <a:ext cx="3017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readiness issues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520440" y="2011680"/>
            <a:ext cx="274320" cy="274320"/>
          </a:xfrm>
          <a:prstGeom prst="line">
            <a:avLst/>
          </a:prstGeom>
          <a:noFill/>
          <a:ln w="6350">
            <a:solidFill>
              <a:srgbClr val="AABBD0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5394960" y="2011680"/>
            <a:ext cx="274320" cy="274320"/>
          </a:xfrm>
          <a:prstGeom prst="line">
            <a:avLst/>
          </a:prstGeom>
          <a:noFill/>
          <a:ln w="6350">
            <a:solidFill>
              <a:srgbClr val="AABBD0"/>
            </a:solidFill>
            <a:prstDash val="dash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27432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Noise to Narrative: AI Synthesis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347472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8872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The Noise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627632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E8EDF3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276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tickets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64208" y="1627632"/>
            <a:ext cx="1161288" cy="274320"/>
          </a:xfrm>
          <a:prstGeom prst="roundRect">
            <a:avLst>
              <a:gd name="adj" fmla="val 20000"/>
            </a:avLst>
          </a:prstGeom>
          <a:solidFill>
            <a:srgbClr val="FDECEA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64208" y="1627632"/>
            <a:ext cx="1161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Incidents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1984248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E8EDF3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9842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sprint boards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64208" y="1984248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E8EDF3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19842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2340864"/>
            <a:ext cx="1161288" cy="274320"/>
          </a:xfrm>
          <a:prstGeom prst="roundRect">
            <a:avLst>
              <a:gd name="adj" fmla="val 20000"/>
            </a:avLst>
          </a:prstGeom>
          <a:solidFill>
            <a:srgbClr val="FFF8E1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340864"/>
            <a:ext cx="1161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444752" y="2340864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E8EDF3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4752" y="234086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2697480"/>
            <a:ext cx="3063240" cy="274320"/>
          </a:xfrm>
          <a:prstGeom prst="roundRect">
            <a:avLst>
              <a:gd name="adj" fmla="val 20000"/>
            </a:avLst>
          </a:prstGeom>
          <a:solidFill>
            <a:srgbClr val="EDE7F6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6974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comments from delivery managers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977640" y="2148840"/>
            <a:ext cx="1463040" cy="475488"/>
          </a:xfrm>
          <a:prstGeom prst="roundRect">
            <a:avLst>
              <a:gd name="adj" fmla="val 38462"/>
            </a:avLst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77640" y="214884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→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858768" y="2651760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SYNTHESIS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669280" y="1078992"/>
            <a:ext cx="320040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833872" y="11887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Leadership Answers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742432" y="1600200"/>
            <a:ext cx="3017520" cy="50292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27" name="Text 25"/>
          <p:cNvSpPr/>
          <p:nvPr/>
        </p:nvSpPr>
        <p:spPr>
          <a:xfrm>
            <a:off x="5779008" y="160020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44768" y="1600200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projects healthy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742432" y="2185416"/>
            <a:ext cx="3017520" cy="50292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30" name="Text 28"/>
          <p:cNvSpPr/>
          <p:nvPr/>
        </p:nvSpPr>
        <p:spPr>
          <a:xfrm>
            <a:off x="5779008" y="2185416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144768" y="2185416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projects need dependency escalation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742432" y="2770632"/>
            <a:ext cx="3017520" cy="50292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33" name="Text 31"/>
          <p:cNvSpPr/>
          <p:nvPr/>
        </p:nvSpPr>
        <p:spPr>
          <a:xfrm>
            <a:off x="5779008" y="2770632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144768" y="2770632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releases likely to slip by 1–2 weeks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742432" y="3355848"/>
            <a:ext cx="3017520" cy="64008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36" name="Text 34"/>
          <p:cNvSpPr/>
          <p:nvPr/>
        </p:nvSpPr>
        <p:spPr>
          <a:xfrm>
            <a:off x="5779008" y="3355848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144768" y="3355848"/>
            <a:ext cx="2542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application has rising quality risk despite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 sprint velocity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3913632"/>
            <a:ext cx="8595360" cy="10698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74320" y="3913632"/>
            <a:ext cx="54864" cy="106984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40" name="Text 38"/>
          <p:cNvSpPr/>
          <p:nvPr/>
        </p:nvSpPr>
        <p:spPr>
          <a:xfrm>
            <a:off x="411480" y="39502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CROSS-SIGNAL SYNTHESIS EXAMPLE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11480" y="4224528"/>
            <a:ext cx="38404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Jira:  </a:t>
            </a:r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completion is 88%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11480" y="4398264"/>
            <a:ext cx="38404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ServiceNow:  </a:t>
            </a:r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volume rising 35%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11480" y="4572000"/>
            <a:ext cx="38404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Git:  </a:t>
            </a:r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Hotfix activity increasing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11480" y="4745736"/>
            <a:ext cx="38404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Testing:  </a:t>
            </a:r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failures rising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251960" y="4434840"/>
            <a:ext cx="41148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6" name="Shape 44"/>
          <p:cNvSpPr/>
          <p:nvPr/>
        </p:nvSpPr>
        <p:spPr>
          <a:xfrm>
            <a:off x="4590288" y="4325112"/>
            <a:ext cx="54864" cy="2743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7" name="Shape 45"/>
          <p:cNvSpPr/>
          <p:nvPr/>
        </p:nvSpPr>
        <p:spPr>
          <a:xfrm>
            <a:off x="4590288" y="4325112"/>
            <a:ext cx="146304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8" name="Shape 46"/>
          <p:cNvSpPr/>
          <p:nvPr/>
        </p:nvSpPr>
        <p:spPr>
          <a:xfrm>
            <a:off x="4590288" y="4544568"/>
            <a:ext cx="146304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9" name="Shape 47"/>
          <p:cNvSpPr/>
          <p:nvPr/>
        </p:nvSpPr>
        <p:spPr>
          <a:xfrm>
            <a:off x="4846320" y="3913632"/>
            <a:ext cx="4023360" cy="1069848"/>
          </a:xfrm>
          <a:prstGeom prst="rect">
            <a:avLst/>
          </a:prstGeom>
          <a:solidFill>
            <a:srgbClr val="EBF0FC"/>
          </a:solidFill>
          <a:ln/>
        </p:spPr>
      </p:sp>
      <p:sp>
        <p:nvSpPr>
          <p:cNvPr id="50" name="Text 48"/>
          <p:cNvSpPr/>
          <p:nvPr/>
        </p:nvSpPr>
        <p:spPr>
          <a:xfrm>
            <a:off x="4919472" y="39502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❝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4919472" y="4187952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"Delivery output remains acceptable, but </a:t>
            </a:r>
            <a:pPr indent="0" marL="0">
              <a:buNone/>
            </a:pPr>
            <a:r>
              <a:rPr lang="en-US" sz="95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risk is increasing</a:t>
            </a:r>
            <a:pPr indent="0" marL="0">
              <a:buNone/>
            </a:pPr>
            <a:r>
              <a:rPr lang="en-US" sz="95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Team is meeting sprint commitments by deferring defect remediation and using production hotfixes. Release stability for the next milestone is </a:t>
            </a:r>
            <a:pPr indent="0" marL="0">
              <a:buNone/>
            </a:pPr>
            <a:r>
              <a:rPr lang="en-US" sz="95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pPr indent="0" marL="0">
              <a:buNone/>
            </a:pPr>
            <a:r>
              <a:rPr lang="en-US" sz="95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27432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AI-Generated Sprint Summary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50292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8872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Report: Payments Modernization Team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600200"/>
            <a:ext cx="4754880" cy="384048"/>
          </a:xfrm>
          <a:prstGeom prst="rect">
            <a:avLst/>
          </a:prstGeom>
          <a:solidFill>
            <a:srgbClr val="FFF8E1"/>
          </a:solidFill>
          <a:ln w="6350">
            <a:solidFill>
              <a:srgbClr val="FFD5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0020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Sprint Goal Partially Achieved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066544"/>
            <a:ext cx="2240280" cy="8686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10312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051560" y="221284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40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257860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story points completed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" y="2816352"/>
            <a:ext cx="2103120" cy="91440"/>
          </a:xfrm>
          <a:prstGeom prst="rect">
            <a:avLst/>
          </a:prstGeom>
          <a:solidFill>
            <a:srgbClr val="D0D8E8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2816352"/>
            <a:ext cx="1627632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Shape 13"/>
          <p:cNvSpPr/>
          <p:nvPr/>
        </p:nvSpPr>
        <p:spPr>
          <a:xfrm>
            <a:off x="2788920" y="2066544"/>
            <a:ext cx="2377440" cy="86868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6" name="Text 14"/>
          <p:cNvSpPr/>
          <p:nvPr/>
        </p:nvSpPr>
        <p:spPr>
          <a:xfrm>
            <a:off x="2880360" y="208483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880360" y="254203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capacity consumed by Sev-2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support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11480" y="2999232"/>
            <a:ext cx="4754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999232"/>
            <a:ext cx="36576" cy="548640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0175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stories carried over: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32186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blocked by architecture review, 1 blocked by external API dependency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3657600"/>
            <a:ext cx="47548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3657600"/>
            <a:ext cx="36576" cy="566928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703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leakage:       </a:t>
            </a:r>
            <a:pPr indent="0" marL="0">
              <a:buNone/>
            </a:pPr>
            <a:r>
              <a:rPr lang="en-US" sz="9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from 3 → 8  ↗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39319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milestone:    </a:t>
            </a:r>
            <a:pPr indent="0" marL="0">
              <a:buNone/>
            </a:pPr>
            <a:r>
              <a:rPr lang="en-US" sz="95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dropped High → Medium  ↘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532120" y="1078992"/>
            <a:ext cx="3337560" cy="38862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669280" y="118872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AI Pattern Interpretation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69280" y="15544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layer infers systemic risks beyond standard status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automation: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69280" y="2057400"/>
            <a:ext cx="320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20574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is the third sprint in a row with architecture review as a blocker."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669280" y="2761488"/>
            <a:ext cx="320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16752" y="2761488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"Unplanned production support is now consistently above 15%."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669280" y="3465576"/>
            <a:ext cx="320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🥧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016752" y="3465576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"Epic progress appears green on completion percentage but key integration stories remain incomplete."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669280" y="4169664"/>
            <a:ext cx="320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016752" y="4169664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"Velocity is stable, but business-critical scope is slipping."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27432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Delivery Review: A Decision Packet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Shifting from a static collection of team updates to an actionable management mechanism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743200" cy="19019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27432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161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A. EXECUTIVE SUMMARY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84048" y="1572768"/>
            <a:ext cx="109728" cy="109728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536192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Portfolio Status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173736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at risk, 5 healthy, 1 off track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84048" y="2020824"/>
            <a:ext cx="109728" cy="109728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984248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This Week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2185416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metrics declined in Cloud Mig.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84048" y="2468880"/>
            <a:ext cx="109728" cy="109728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432304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Risks / Decisions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263347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dependency on Orion; requires C-level intervention today.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154680" y="1143000"/>
            <a:ext cx="3200400" cy="19019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54680" y="1143000"/>
            <a:ext cx="32004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0" y="12161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⊞  B. PORTFOLIO HEATMAP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46120" y="1508760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4023360" y="1508760"/>
            <a:ext cx="4206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4462272" y="1508760"/>
            <a:ext cx="4206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4892040" y="1508760"/>
            <a:ext cx="4206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5321808" y="1508760"/>
            <a:ext cx="4206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DEPEND.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5742432" y="150876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3246120" y="1737360"/>
            <a:ext cx="7498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Orion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151376" y="1783080"/>
            <a:ext cx="137160" cy="13716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29" name="Shape 27"/>
          <p:cNvSpPr/>
          <p:nvPr/>
        </p:nvSpPr>
        <p:spPr>
          <a:xfrm>
            <a:off x="4590288" y="1783080"/>
            <a:ext cx="137160" cy="137160"/>
          </a:xfrm>
          <a:prstGeom prst="ellipse">
            <a:avLst/>
          </a:prstGeom>
          <a:solidFill>
            <a:srgbClr val="FF8F00"/>
          </a:solidFill>
          <a:ln/>
        </p:spPr>
      </p:sp>
      <p:sp>
        <p:nvSpPr>
          <p:cNvPr id="30" name="Shape 28"/>
          <p:cNvSpPr/>
          <p:nvPr/>
        </p:nvSpPr>
        <p:spPr>
          <a:xfrm>
            <a:off x="5020056" y="1783080"/>
            <a:ext cx="137160" cy="137160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31" name="Shape 29"/>
          <p:cNvSpPr/>
          <p:nvPr/>
        </p:nvSpPr>
        <p:spPr>
          <a:xfrm>
            <a:off x="5449824" y="1783080"/>
            <a:ext cx="137160" cy="13716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32" name="Shape 30"/>
          <p:cNvSpPr/>
          <p:nvPr/>
        </p:nvSpPr>
        <p:spPr>
          <a:xfrm>
            <a:off x="5870448" y="1783080"/>
            <a:ext cx="137160" cy="137160"/>
          </a:xfrm>
          <a:prstGeom prst="ellipse">
            <a:avLst/>
          </a:prstGeom>
          <a:solidFill>
            <a:srgbClr val="FF8F00"/>
          </a:solidFill>
          <a:ln/>
        </p:spPr>
      </p:sp>
      <p:sp>
        <p:nvSpPr>
          <p:cNvPr id="33" name="Text 31"/>
          <p:cNvSpPr/>
          <p:nvPr/>
        </p:nvSpPr>
        <p:spPr>
          <a:xfrm>
            <a:off x="3246120" y="2011680"/>
            <a:ext cx="7498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Upgrade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151376" y="2057400"/>
            <a:ext cx="137160" cy="137160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35" name="Shape 33"/>
          <p:cNvSpPr/>
          <p:nvPr/>
        </p:nvSpPr>
        <p:spPr>
          <a:xfrm>
            <a:off x="4590288" y="2057400"/>
            <a:ext cx="137160" cy="137160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36" name="Shape 34"/>
          <p:cNvSpPr/>
          <p:nvPr/>
        </p:nvSpPr>
        <p:spPr>
          <a:xfrm>
            <a:off x="5020056" y="2057400"/>
            <a:ext cx="137160" cy="137160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37" name="Shape 35"/>
          <p:cNvSpPr/>
          <p:nvPr/>
        </p:nvSpPr>
        <p:spPr>
          <a:xfrm>
            <a:off x="5449824" y="2057400"/>
            <a:ext cx="137160" cy="137160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38" name="Shape 36"/>
          <p:cNvSpPr/>
          <p:nvPr/>
        </p:nvSpPr>
        <p:spPr>
          <a:xfrm>
            <a:off x="5870448" y="2057400"/>
            <a:ext cx="137160" cy="137160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39" name="Text 37"/>
          <p:cNvSpPr/>
          <p:nvPr/>
        </p:nvSpPr>
        <p:spPr>
          <a:xfrm>
            <a:off x="3246120" y="2286000"/>
            <a:ext cx="7498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Mig.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151376" y="2331720"/>
            <a:ext cx="137160" cy="137160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41" name="Shape 39"/>
          <p:cNvSpPr/>
          <p:nvPr/>
        </p:nvSpPr>
        <p:spPr>
          <a:xfrm>
            <a:off x="4590288" y="2331720"/>
            <a:ext cx="137160" cy="137160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42" name="Shape 40"/>
          <p:cNvSpPr/>
          <p:nvPr/>
        </p:nvSpPr>
        <p:spPr>
          <a:xfrm>
            <a:off x="5020056" y="2331720"/>
            <a:ext cx="137160" cy="137160"/>
          </a:xfrm>
          <a:prstGeom prst="ellipse">
            <a:avLst/>
          </a:prstGeom>
          <a:solidFill>
            <a:srgbClr val="FF8F00"/>
          </a:solidFill>
          <a:ln/>
        </p:spPr>
      </p:sp>
      <p:sp>
        <p:nvSpPr>
          <p:cNvPr id="43" name="Shape 41"/>
          <p:cNvSpPr/>
          <p:nvPr/>
        </p:nvSpPr>
        <p:spPr>
          <a:xfrm>
            <a:off x="5449824" y="2331720"/>
            <a:ext cx="137160" cy="137160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44" name="Shape 42"/>
          <p:cNvSpPr/>
          <p:nvPr/>
        </p:nvSpPr>
        <p:spPr>
          <a:xfrm>
            <a:off x="5870448" y="2331720"/>
            <a:ext cx="137160" cy="137160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45" name="Text 43"/>
          <p:cNvSpPr/>
          <p:nvPr/>
        </p:nvSpPr>
        <p:spPr>
          <a:xfrm>
            <a:off x="3246120" y="2560320"/>
            <a:ext cx="7498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Delta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151376" y="2606040"/>
            <a:ext cx="137160" cy="13716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47" name="Shape 45"/>
          <p:cNvSpPr/>
          <p:nvPr/>
        </p:nvSpPr>
        <p:spPr>
          <a:xfrm>
            <a:off x="4590288" y="2606040"/>
            <a:ext cx="137160" cy="13716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48" name="Shape 46"/>
          <p:cNvSpPr/>
          <p:nvPr/>
        </p:nvSpPr>
        <p:spPr>
          <a:xfrm>
            <a:off x="5020056" y="2606040"/>
            <a:ext cx="137160" cy="137160"/>
          </a:xfrm>
          <a:prstGeom prst="ellipse">
            <a:avLst/>
          </a:prstGeom>
          <a:solidFill>
            <a:srgbClr val="FF8F00"/>
          </a:solidFill>
          <a:ln/>
        </p:spPr>
      </p:sp>
      <p:sp>
        <p:nvSpPr>
          <p:cNvPr id="49" name="Shape 47"/>
          <p:cNvSpPr/>
          <p:nvPr/>
        </p:nvSpPr>
        <p:spPr>
          <a:xfrm>
            <a:off x="5449824" y="2606040"/>
            <a:ext cx="137160" cy="13716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50" name="Shape 48"/>
          <p:cNvSpPr/>
          <p:nvPr/>
        </p:nvSpPr>
        <p:spPr>
          <a:xfrm>
            <a:off x="5870448" y="2606040"/>
            <a:ext cx="137160" cy="13716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51" name="Shape 49"/>
          <p:cNvSpPr/>
          <p:nvPr/>
        </p:nvSpPr>
        <p:spPr>
          <a:xfrm>
            <a:off x="6492240" y="1143000"/>
            <a:ext cx="2377440" cy="19019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492240" y="1143000"/>
            <a:ext cx="2377440" cy="54864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53" name="Text 51"/>
          <p:cNvSpPr/>
          <p:nvPr/>
        </p:nvSpPr>
        <p:spPr>
          <a:xfrm>
            <a:off x="6601968" y="121615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 E. MILESTONE FORECAST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601968" y="150876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Confidence Pipeline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720840" y="1901952"/>
            <a:ext cx="192024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583680" y="1801368"/>
            <a:ext cx="274320" cy="274320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57" name="Text 55"/>
          <p:cNvSpPr/>
          <p:nvPr/>
        </p:nvSpPr>
        <p:spPr>
          <a:xfrm>
            <a:off x="6519672" y="2103120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7360920" y="1801368"/>
            <a:ext cx="274320" cy="274320"/>
          </a:xfrm>
          <a:prstGeom prst="ellipse">
            <a:avLst/>
          </a:prstGeom>
          <a:solidFill>
            <a:srgbClr val="FF8F00"/>
          </a:solidFill>
          <a:ln/>
        </p:spPr>
      </p:sp>
      <p:sp>
        <p:nvSpPr>
          <p:cNvPr id="59" name="Text 57"/>
          <p:cNvSpPr/>
          <p:nvPr/>
        </p:nvSpPr>
        <p:spPr>
          <a:xfrm>
            <a:off x="7296912" y="2103120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8183880" y="1801368"/>
            <a:ext cx="274320" cy="27432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61" name="Text 59"/>
          <p:cNvSpPr/>
          <p:nvPr/>
        </p:nvSpPr>
        <p:spPr>
          <a:xfrm>
            <a:off x="8119872" y="2103120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6601968" y="2377440"/>
            <a:ext cx="2148840" cy="548640"/>
          </a:xfrm>
          <a:prstGeom prst="rect">
            <a:avLst/>
          </a:prstGeom>
          <a:solidFill>
            <a:srgbClr val="FFEBEE"/>
          </a:solidFill>
          <a:ln w="6350">
            <a:solidFill>
              <a:srgbClr val="FFCDD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675120" y="239572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if blockers remain: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Delta most likely to miss target dates (May release at high risk).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74320" y="3127248"/>
            <a:ext cx="42519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274320" y="3127248"/>
            <a:ext cx="4251960" cy="54864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66" name="Text 64"/>
          <p:cNvSpPr/>
          <p:nvPr/>
        </p:nvSpPr>
        <p:spPr>
          <a:xfrm>
            <a:off x="411480" y="3200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C. CHANGE SINCE LAST WEEK (MOVEMENT)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47472" y="3511296"/>
            <a:ext cx="4114800" cy="384048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68" name="Shape 66"/>
          <p:cNvSpPr/>
          <p:nvPr/>
        </p:nvSpPr>
        <p:spPr>
          <a:xfrm>
            <a:off x="438912" y="3630168"/>
            <a:ext cx="146304" cy="146304"/>
          </a:xfrm>
          <a:prstGeom prst="ellipse">
            <a:avLst/>
          </a:prstGeom>
          <a:solidFill>
            <a:srgbClr val="FF8F00"/>
          </a:solidFill>
          <a:ln/>
        </p:spPr>
      </p:sp>
      <p:sp>
        <p:nvSpPr>
          <p:cNvPr id="69" name="Text 67"/>
          <p:cNvSpPr/>
          <p:nvPr/>
        </p:nvSpPr>
        <p:spPr>
          <a:xfrm>
            <a:off x="603504" y="3602736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804672" y="3630168"/>
            <a:ext cx="146304" cy="146304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71" name="Text 69"/>
          <p:cNvSpPr/>
          <p:nvPr/>
        </p:nvSpPr>
        <p:spPr>
          <a:xfrm>
            <a:off x="1005840" y="3566160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Orion  </a:t>
            </a:r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from amber to red because UAT entry slipped by 8 days.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347472" y="3968496"/>
            <a:ext cx="4114800" cy="384048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73" name="Shape 71"/>
          <p:cNvSpPr/>
          <p:nvPr/>
        </p:nvSpPr>
        <p:spPr>
          <a:xfrm>
            <a:off x="438912" y="4087368"/>
            <a:ext cx="146304" cy="146304"/>
          </a:xfrm>
          <a:prstGeom prst="ellipse">
            <a:avLst/>
          </a:prstGeom>
          <a:solidFill>
            <a:srgbClr val="FF8F00"/>
          </a:solidFill>
          <a:ln/>
        </p:spPr>
      </p:sp>
      <p:sp>
        <p:nvSpPr>
          <p:cNvPr id="74" name="Text 72"/>
          <p:cNvSpPr/>
          <p:nvPr/>
        </p:nvSpPr>
        <p:spPr>
          <a:xfrm>
            <a:off x="603504" y="4059936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804672" y="4087368"/>
            <a:ext cx="146304" cy="146304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76" name="Text 74"/>
          <p:cNvSpPr/>
          <p:nvPr/>
        </p:nvSpPr>
        <p:spPr>
          <a:xfrm>
            <a:off x="1005840" y="4023360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Upgrade  </a:t>
            </a:r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from amber to green after test automation completion and vendor signoff.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347472" y="4425696"/>
            <a:ext cx="4114800" cy="384048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78" name="Shape 76"/>
          <p:cNvSpPr/>
          <p:nvPr/>
        </p:nvSpPr>
        <p:spPr>
          <a:xfrm>
            <a:off x="438912" y="4544568"/>
            <a:ext cx="146304" cy="146304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79" name="Text 77"/>
          <p:cNvSpPr/>
          <p:nvPr/>
        </p:nvSpPr>
        <p:spPr>
          <a:xfrm>
            <a:off x="603504" y="4517136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804672" y="4544568"/>
            <a:ext cx="146304" cy="146304"/>
          </a:xfrm>
          <a:prstGeom prst="ellipse">
            <a:avLst/>
          </a:prstGeom>
          <a:solidFill>
            <a:srgbClr val="FF8F00"/>
          </a:solidFill>
          <a:ln/>
        </p:spPr>
      </p:sp>
      <p:sp>
        <p:nvSpPr>
          <p:cNvPr id="81" name="Text 79"/>
          <p:cNvSpPr/>
          <p:nvPr/>
        </p:nvSpPr>
        <p:spPr>
          <a:xfrm>
            <a:off x="1005840" y="4480560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Mig.  </a:t>
            </a:r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risk increased despite schedule stability due to failed cutover rehearsal.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4663440" y="3127248"/>
            <a:ext cx="42062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4663440" y="3127248"/>
            <a:ext cx="420624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84" name="Text 82"/>
          <p:cNvSpPr/>
          <p:nvPr/>
        </p:nvSpPr>
        <p:spPr>
          <a:xfrm>
            <a:off x="4800600" y="3200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D. ESCALATION LIST (TIERED ACTIONS)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4736592" y="3511296"/>
            <a:ext cx="4023360" cy="384048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86" name="Text 84"/>
          <p:cNvSpPr/>
          <p:nvPr/>
        </p:nvSpPr>
        <p:spPr>
          <a:xfrm>
            <a:off x="4800600" y="3557016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DECISION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6053328" y="354787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credentials issue blocking Customer Onboarding API for 11 days. Intervention needed with vendor account exec.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4736592" y="3968496"/>
            <a:ext cx="4023360" cy="384048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89" name="Text 87"/>
          <p:cNvSpPr/>
          <p:nvPr/>
        </p:nvSpPr>
        <p:spPr>
          <a:xfrm>
            <a:off x="4800600" y="4014216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CROSS-TEAM ACTION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6053328" y="400507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review queue is dominating 3 teams. Temporary reallocation of reviewers needed this sprint.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4736592" y="4425696"/>
            <a:ext cx="4023360" cy="38404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92" name="Text 90"/>
          <p:cNvSpPr/>
          <p:nvPr/>
        </p:nvSpPr>
        <p:spPr>
          <a:xfrm>
            <a:off x="4800600" y="4471416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RESOLVABLE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6053328" y="446227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environment data refresh delayed; PM modernizing automation scripts to clear backlog by Friday.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27432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Epics are at Risk—and Explain Why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beyond misleading completion percentages by scoring epic risk using multiple signals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02336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0D1B3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4023360" cy="54864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161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SIGNALS INDICATING EPIC RISK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53619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show 70% complete, but hide the hardest integration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work. The AI layer evaluates: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993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199339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stories concentrated in one epic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225856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22585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carryover across sprints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" y="252374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252374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Unresolved dependencies &amp; old blocked items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" y="278892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27889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defect density in epic-related features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" y="305409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305409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failures tied to epic scope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4048" y="331927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33192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story churn &amp; excessive scope changes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4048" y="358444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▬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35844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environment readiness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4048" y="384962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384962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vendor deliverables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84048" y="411480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" y="41148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work left late in the timeline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480560" y="1143000"/>
            <a:ext cx="43891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C6282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480560" y="1143000"/>
            <a:ext cx="438912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0" name="Text 28"/>
          <p:cNvSpPr/>
          <p:nvPr/>
        </p:nvSpPr>
        <p:spPr>
          <a:xfrm>
            <a:off x="4617720" y="121615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EXAMPLE OF USEFUL AI OUTPUT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0" y="1554480"/>
            <a:ext cx="4160520" cy="347472"/>
          </a:xfrm>
          <a:prstGeom prst="rect">
            <a:avLst/>
          </a:prstGeom>
          <a:solidFill>
            <a:srgbClr val="FFEBEE"/>
          </a:solidFill>
          <a:ln w="6350">
            <a:solidFill>
              <a:srgbClr val="FFCDD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0" y="1554480"/>
            <a:ext cx="45720" cy="34747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3" name="Text 31"/>
          <p:cNvSpPr/>
          <p:nvPr/>
        </p:nvSpPr>
        <p:spPr>
          <a:xfrm>
            <a:off x="4663440" y="15544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at risk: </a:t>
            </a:r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Onboarding API Integration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0" y="1965960"/>
            <a:ext cx="4160520" cy="1261872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20116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WHY: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63440" y="225856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stories have rolled over</a:t>
            </a:r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2 consecutive sprints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663440" y="245973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integration tasks </a:t>
            </a:r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pending vendor test credentials</a:t>
            </a:r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11 days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663440" y="266090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trend increased after latest build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663440" y="286207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</a:t>
            </a:r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of integration test cases passed</a:t>
            </a:r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current cycle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663440" y="30632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stories are on the critical path for UAT start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0" y="3291840"/>
            <a:ext cx="4160520" cy="658368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42" name="Text 40"/>
          <p:cNvSpPr/>
          <p:nvPr/>
        </p:nvSpPr>
        <p:spPr>
          <a:xfrm>
            <a:off x="4663440" y="332841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LIKELY IMPACT: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663440" y="354787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start may slip by 1 week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663440" y="372160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85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training and rollout milestone will be affected unless vendor dependency is resolved this week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572000" y="4005072"/>
            <a:ext cx="4160520" cy="8686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46" name="Text 44"/>
          <p:cNvSpPr/>
          <p:nvPr/>
        </p:nvSpPr>
        <p:spPr>
          <a:xfrm>
            <a:off x="4663440" y="404164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 RECOMMENDED ESCALATION (ACTION PATH):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663440" y="427939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intervention with vendor to clear credentials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663440" y="44805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reallocation of integration test support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663440" y="468172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tracking until credentials issue is cleared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27432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Raw Data into Executive-Ready Summaries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don't want tool language. They want business language at the right density.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2062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5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64008" cy="1170432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344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3: Executive Summary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1545336"/>
            <a:ext cx="256032" cy="256032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154533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CIO, CTO, BUSINESS SPONSORS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13232" y="174650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programs are threatened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" y="192938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cross-functional issue is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" y="211226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support/decisions are needed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423160" y="233172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404872"/>
            <a:ext cx="42062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5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404872"/>
            <a:ext cx="64008" cy="1170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4963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2: Program Summary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84048" y="2807208"/>
            <a:ext cx="256032" cy="25603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" y="28072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DELIVERY HEADS, PMO, RELEASE TRAIN LEADERS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713232" y="300837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Program-level threats &amp; dependencies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3232" y="319125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Cross-team bottlenecks &amp; issues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3232" y="337413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readiness status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423160" y="359359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666744"/>
            <a:ext cx="42062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5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666744"/>
            <a:ext cx="64008" cy="1170432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375818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1: Team Summary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84048" y="4069080"/>
            <a:ext cx="256032" cy="256032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28" name="Text 26"/>
          <p:cNvSpPr/>
          <p:nvPr/>
        </p:nvSpPr>
        <p:spPr>
          <a:xfrm>
            <a:off x="713232" y="40690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SCRUM MASTERS, ENG. MANAGERS, POS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713232" y="427024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Blockers by story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13232" y="445312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root causes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13232" y="463600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capacity impact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143000"/>
            <a:ext cx="4206240" cy="3794760"/>
          </a:xfrm>
          <a:prstGeom prst="rect">
            <a:avLst/>
          </a:prstGeom>
          <a:solidFill>
            <a:srgbClr val="FFFBF0"/>
          </a:solidFill>
          <a:ln w="12700">
            <a:solidFill>
              <a:srgbClr val="FF8F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00600" y="12344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Operations to Business Value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754880" y="1645920"/>
            <a:ext cx="3977640" cy="1078992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35" name="Text 33"/>
          <p:cNvSpPr/>
          <p:nvPr/>
        </p:nvSpPr>
        <p:spPr>
          <a:xfrm>
            <a:off x="4892040" y="169164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RAW OPERATIONAL DATA (TOOL LANGUAGE):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892040" y="1938528"/>
            <a:ext cx="3703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"12 tickets moved to blocked"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92040" y="2121408"/>
            <a:ext cx="3703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"Deployment success rate fell to 82%"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92040" y="2304288"/>
            <a:ext cx="3703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"PR aging above 6 days"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92040" y="2487168"/>
            <a:ext cx="3703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"2 Sev-2 incidents"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035040" y="2798064"/>
            <a:ext cx="1371600" cy="329184"/>
          </a:xfrm>
          <a:prstGeom prst="roundRect">
            <a:avLst>
              <a:gd name="adj" fmla="val 41667"/>
            </a:avLst>
          </a:prstGeom>
          <a:solidFill>
            <a:srgbClr val="FFF8E1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35040" y="279806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SYNTH ↓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54880" y="3200400"/>
            <a:ext cx="3977640" cy="1600200"/>
          </a:xfrm>
          <a:prstGeom prst="rect">
            <a:avLst/>
          </a:prstGeom>
          <a:solidFill>
            <a:srgbClr val="F1FFF3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324612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EXECUTIVE-READY SUMMARY (BUSINESS LANGUAGE):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892040" y="3493008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"Delivery pace slowed</a:t>
            </a:r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due to dependency bottlenecks in integration and approvals."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92040" y="3813048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"Release stability is weakening, </a:t>
            </a:r>
            <a:pPr indent="0" marL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the probability of milestone slippage.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92040" y="4133088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"Application support load is </a:t>
            </a:r>
            <a:pPr indent="0" marL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delivery capacity</a:t>
            </a:r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roadmap work."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892040" y="4453128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"Without intervention, </a:t>
            </a:r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Delta is likely to miss the May release window</a:t>
            </a:r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."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27432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Abnormal Patterns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Gen AI becomes a meaningful management aid rather than a passive dashboard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434840" cy="3840480"/>
          </a:xfrm>
          <a:prstGeom prst="rect">
            <a:avLst/>
          </a:prstGeom>
          <a:solidFill>
            <a:srgbClr val="FFFFFF"/>
          </a:solidFill>
          <a:ln w="10160">
            <a:solidFill>
              <a:srgbClr val="FF8F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4434840" cy="54864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161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ABNORMALITIES WORTH SURFACING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53619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dashboards show what happened. A good AI layer tells you what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unusual.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4048" y="1938528"/>
            <a:ext cx="4206240" cy="347472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38528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" y="19385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 </a:t>
            </a:r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on one team rose from 2.5 days to 6.8 days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4048" y="2359152"/>
            <a:ext cx="4206240" cy="347472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359152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" y="23591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</a:t>
            </a:r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reopen rate doubled in one release train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" y="2779776"/>
            <a:ext cx="4206240" cy="347472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779776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4672" y="277977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</a:t>
            </a:r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work consumed 28% of sprint capacity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4048" y="3200400"/>
            <a:ext cx="4206240" cy="347472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200400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4672" y="32004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</a:t>
            </a:r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increased after a platform change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84048" y="3621024"/>
            <a:ext cx="4206240" cy="347472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621024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4672" y="362102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</a:t>
            </a:r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vendor-dependent stream is causing repeated spillover across three teams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84048" y="4041648"/>
            <a:ext cx="4206240" cy="347472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041648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4672" y="40416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</a:t>
            </a:r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 flat but escaped defects rose (weak coverage)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84048" y="4462272"/>
            <a:ext cx="4206240" cy="347472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462272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04672" y="44622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</a:t>
            </a:r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normal, but business-critical items slipping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92040" y="1143000"/>
            <a:ext cx="3977640" cy="3840480"/>
          </a:xfrm>
          <a:prstGeom prst="rect">
            <a:avLst/>
          </a:prstGeom>
          <a:solidFill>
            <a:srgbClr val="1A2B5A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NOT JUST DETECT. EXPLAIN.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83480" y="1600200"/>
            <a:ext cx="3749040" cy="896112"/>
          </a:xfrm>
          <a:prstGeom prst="rect">
            <a:avLst/>
          </a:prstGeom>
          <a:solidFill>
            <a:srgbClr val="FFEBEE"/>
          </a:solidFill>
          <a:ln w="6350">
            <a:solidFill>
              <a:srgbClr val="C6282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02352" y="164592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 (DETECTION):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102352" y="187452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"Blocker age = Red"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102352" y="2130552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(Average age increased from 2.5 to 6.8 days)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601968" y="25420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983480" y="2852928"/>
            <a:ext cx="3749040" cy="1965960"/>
          </a:xfrm>
          <a:prstGeom prst="rect">
            <a:avLst/>
          </a:prstGeom>
          <a:solidFill>
            <a:srgbClr val="F1FFF3"/>
          </a:solidFill>
          <a:ln w="10160">
            <a:solidFill>
              <a:srgbClr val="43A04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02352" y="2907792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NARRATIVE (EXPLANATION &amp; IMPACT):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102352" y="3182112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"Blocker age increased because </a:t>
            </a:r>
            <a:pPr indent="0" marL="0">
              <a:buNone/>
            </a:pPr>
            <a:r>
              <a:rPr lang="en-US" sz="950" b="1" i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items are waiting on security</a:t>
            </a:r>
            <a:endParaRPr lang="en-US" sz="950" dirty="0"/>
          </a:p>
          <a:p>
            <a:pPr indent="0" marL="0">
              <a:buNone/>
            </a:pPr>
            <a:r>
              <a:rPr lang="en-US" sz="950" b="1" i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which has become the dominant queue for 3 teams.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102352" y="3858768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now affecting two separate projects and is </a:t>
            </a:r>
            <a:endParaRPr lang="en-US" sz="950" dirty="0"/>
          </a:p>
          <a:p>
            <a:pPr indent="0" marL="0">
              <a:buNone/>
            </a:pPr>
            <a:r>
              <a:rPr lang="en-US" sz="950" b="1" i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to</a:t>
            </a:r>
            <a:endParaRPr lang="en-US" sz="950" dirty="0"/>
          </a:p>
          <a:p>
            <a:pPr indent="0" marL="0">
              <a:buNone/>
            </a:pPr>
            <a:r>
              <a:rPr lang="en-US" sz="950" b="1" i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the June integration milestone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."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27432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Model, Value, and Next Steps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fragmented operational data to a pilot implementation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859536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859536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161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OPERATING MODEL WORKFLOW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7472" y="1508760"/>
            <a:ext cx="1353312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F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508760"/>
            <a:ext cx="1353312" cy="457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1" name="Text 9"/>
          <p:cNvSpPr/>
          <p:nvPr/>
        </p:nvSpPr>
        <p:spPr>
          <a:xfrm>
            <a:off x="402336" y="157276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Ingestion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02336" y="184708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/ near-real-time API pulls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664208" y="1965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792224" y="1508760"/>
            <a:ext cx="1353312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F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92224" y="1508760"/>
            <a:ext cx="1353312" cy="457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6" name="Text 14"/>
          <p:cNvSpPr/>
          <p:nvPr/>
        </p:nvSpPr>
        <p:spPr>
          <a:xfrm>
            <a:off x="1847088" y="157276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Normalization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847088" y="184708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Correlating signals across tools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108960" y="1965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36976" y="1508760"/>
            <a:ext cx="1353312" cy="1078992"/>
          </a:xfrm>
          <a:prstGeom prst="rect">
            <a:avLst/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36976" y="1508760"/>
            <a:ext cx="1353312" cy="45720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21" name="Text 19"/>
          <p:cNvSpPr/>
          <p:nvPr/>
        </p:nvSpPr>
        <p:spPr>
          <a:xfrm>
            <a:off x="3291840" y="157276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AI Inference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91840" y="184708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 &amp; root causes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553712" y="1965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81728" y="1508760"/>
            <a:ext cx="1353312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F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1728" y="1508760"/>
            <a:ext cx="1353312" cy="4572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6" name="Text 24"/>
          <p:cNvSpPr/>
          <p:nvPr/>
        </p:nvSpPr>
        <p:spPr>
          <a:xfrm>
            <a:off x="4736592" y="157276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Human Review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36592" y="184708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In-the-loop context &amp; validation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998464" y="1965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26480" y="1508760"/>
            <a:ext cx="1353312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F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1508760"/>
            <a:ext cx="1353312" cy="457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1" name="Text 29"/>
          <p:cNvSpPr/>
          <p:nvPr/>
        </p:nvSpPr>
        <p:spPr>
          <a:xfrm>
            <a:off x="6181344" y="157276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Governance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81344" y="184708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&amp; structured escalations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443216" y="1965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571232" y="1508760"/>
            <a:ext cx="1353312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F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71232" y="1508760"/>
            <a:ext cx="1353312" cy="4572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36" name="Text 34"/>
          <p:cNvSpPr/>
          <p:nvPr/>
        </p:nvSpPr>
        <p:spPr>
          <a:xfrm>
            <a:off x="7626096" y="157276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Reporting Rhythm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626096" y="184708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generation (Team → Exec)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74320" y="2788920"/>
            <a:ext cx="4160520" cy="2194560"/>
          </a:xfrm>
          <a:prstGeom prst="rect">
            <a:avLst/>
          </a:prstGeom>
          <a:solidFill>
            <a:srgbClr val="FFFFFF"/>
          </a:solidFill>
          <a:ln w="10160">
            <a:solidFill>
              <a:srgbClr val="43A0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74320" y="2788920"/>
            <a:ext cx="4160520" cy="54864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40" name="Text 38"/>
          <p:cNvSpPr/>
          <p:nvPr/>
        </p:nvSpPr>
        <p:spPr>
          <a:xfrm>
            <a:off x="411480" y="28620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💎  VALUE PROPOSITION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65760" y="3182112"/>
            <a:ext cx="1920240" cy="8686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42" name="Text 40"/>
          <p:cNvSpPr/>
          <p:nvPr/>
        </p:nvSpPr>
        <p:spPr>
          <a:xfrm>
            <a:off x="438912" y="32369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49808" y="32369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Decisions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38912" y="354787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answers accelerate intervention and pivot times.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395728" y="3182112"/>
            <a:ext cx="1920240" cy="8686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46" name="Text 44"/>
          <p:cNvSpPr/>
          <p:nvPr/>
        </p:nvSpPr>
        <p:spPr>
          <a:xfrm>
            <a:off x="2468880" y="32369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👓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2779776" y="32369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Risk Discovery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468880" y="354787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hidden dependencies and aging blockers early.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65760" y="4169664"/>
            <a:ext cx="1920240" cy="8686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50" name="Text 48"/>
          <p:cNvSpPr/>
          <p:nvPr/>
        </p:nvSpPr>
        <p:spPr>
          <a:xfrm>
            <a:off x="438912" y="42245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749808" y="42245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Predictability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38912" y="4535424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milestone forecasting using pattern analysis.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395728" y="4169664"/>
            <a:ext cx="1920240" cy="8686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54" name="Text 52"/>
          <p:cNvSpPr/>
          <p:nvPr/>
        </p:nvSpPr>
        <p:spPr>
          <a:xfrm>
            <a:off x="2468880" y="42245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2779776" y="42245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Quality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2468880" y="4535424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noise allows focus on true defects &amp; escapes.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617720" y="2788920"/>
            <a:ext cx="4251960" cy="2194560"/>
          </a:xfrm>
          <a:prstGeom prst="rect">
            <a:avLst/>
          </a:prstGeom>
          <a:solidFill>
            <a:srgbClr val="FFFFFF"/>
          </a:solidFill>
          <a:ln w="10160">
            <a:solidFill>
              <a:srgbClr val="FF8F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617720" y="2788920"/>
            <a:ext cx="4251960" cy="54864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59" name="Text 57"/>
          <p:cNvSpPr/>
          <p:nvPr/>
        </p:nvSpPr>
        <p:spPr>
          <a:xfrm>
            <a:off x="4754880" y="28620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NEXT STEPS: 6–8 WEEK PILOT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736592" y="3218688"/>
            <a:ext cx="146304" cy="146304"/>
          </a:xfrm>
          <a:prstGeom prst="ellipse">
            <a:avLst/>
          </a:prstGeom>
          <a:solidFill>
            <a:srgbClr val="FF8F00"/>
          </a:solidFill>
          <a:ln/>
        </p:spPr>
      </p:sp>
      <p:sp>
        <p:nvSpPr>
          <p:cNvPr id="61" name="Text 59"/>
          <p:cNvSpPr/>
          <p:nvPr/>
        </p:nvSpPr>
        <p:spPr>
          <a:xfrm>
            <a:off x="4956048" y="3163824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pilot scope &amp; connect systems</a:t>
            </a:r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(Jira / ADO / ServiceNow / Git / CI-CD)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736592" y="3694176"/>
            <a:ext cx="146304" cy="146304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63" name="Text 61"/>
          <p:cNvSpPr/>
          <p:nvPr/>
        </p:nvSpPr>
        <p:spPr>
          <a:xfrm>
            <a:off x="4956048" y="363931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success metrics</a:t>
            </a:r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(forecast accuracy, time-to-decision, escaped defects)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736592" y="4169664"/>
            <a:ext cx="146304" cy="146304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65" name="Text 63"/>
          <p:cNvSpPr/>
          <p:nvPr/>
        </p:nvSpPr>
        <p:spPr>
          <a:xfrm>
            <a:off x="4956048" y="411480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pilot, measure results &amp; finalize rollout plan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709160" y="4572000"/>
            <a:ext cx="4041648" cy="32004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67" name="Text 65"/>
          <p:cNvSpPr/>
          <p:nvPr/>
        </p:nvSpPr>
        <p:spPr>
          <a:xfrm>
            <a:off x="4773168" y="45537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ROLES: </a:t>
            </a:r>
            <a:pPr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ops, PMO, Engineering leads, Executive sponsors
</a:t>
            </a:r>
            <a:pPr indent="0" marL="0">
              <a:buNone/>
            </a:pPr>
            <a:r>
              <a:rPr lang="en-US" sz="7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GUARDRAILS: </a:t>
            </a:r>
            <a:pPr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data quality thresholds, privacy protocols, and change control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27432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Delivery Data to Portfolio Intelligence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RAG application using embeddings + LLMs turns delivery signals into leadership decisions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8595360" cy="594360"/>
          </a:xfrm>
          <a:prstGeom prst="rect">
            <a:avLst/>
          </a:prstGeom>
          <a:solidFill>
            <a:srgbClr val="EBF0FC"/>
          </a:solidFill>
          <a:ln w="6350">
            <a:solidFill>
              <a:srgbClr val="C5D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43000"/>
            <a:ext cx="54864" cy="59436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8" name="Shape 6"/>
          <p:cNvSpPr/>
          <p:nvPr/>
        </p:nvSpPr>
        <p:spPr>
          <a:xfrm>
            <a:off x="384048" y="1261872"/>
            <a:ext cx="274320" cy="274320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2618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" y="1143000"/>
            <a:ext cx="8001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Insight: </a:t>
            </a:r>
            <a:pPr indent="0" marL="0">
              <a:buNone/>
            </a:pPr>
            <a:r>
              <a:rPr lang="en-US" sz="1000" dirty="0">
                <a:solidFill>
                  <a:srgbClr val="2A3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not to aggregate more data. It is to build a RAG-powered intelligence layer that interprets Jira, ServiceNow, and status signals together to provide program and portfolio-level insight.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828800"/>
            <a:ext cx="2084832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828800"/>
            <a:ext cx="2084832" cy="54864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920240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Status Reports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249424"/>
            <a:ext cx="1901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narrative of milestones, risks, and progress. Valuable for alignment, but manual and subjective.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80360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describing what teams believe is happening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3136392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Missing: objective validation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5760" y="3392424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Missing: cross-program comparison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4114800"/>
            <a:ext cx="1901952" cy="292608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4114800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only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450592" y="1828800"/>
            <a:ext cx="2084832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450592" y="1828800"/>
            <a:ext cx="2084832" cy="54864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22" name="Text 20"/>
          <p:cNvSpPr/>
          <p:nvPr/>
        </p:nvSpPr>
        <p:spPr>
          <a:xfrm>
            <a:off x="2542032" y="1920240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Jira Metrics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42032" y="2249424"/>
            <a:ext cx="1901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Velocity, sprint health, cycle time, spillover, and blockers add objective delivery evidence.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542032" y="2880360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execution friction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542032" y="3136392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reported health vs actual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42032" y="3392424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Credible, data-backed visibility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542032" y="4114800"/>
            <a:ext cx="1901952" cy="29260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8" name="Text 26"/>
          <p:cNvSpPr/>
          <p:nvPr/>
        </p:nvSpPr>
        <p:spPr>
          <a:xfrm>
            <a:off x="2542032" y="4114800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+ Jira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26864" y="1828800"/>
            <a:ext cx="2084832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26864" y="1828800"/>
            <a:ext cx="2084832" cy="54864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31" name="Text 29"/>
          <p:cNvSpPr/>
          <p:nvPr/>
        </p:nvSpPr>
        <p:spPr>
          <a:xfrm>
            <a:off x="4718304" y="1920240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ServiceNow Signals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18304" y="2249424"/>
            <a:ext cx="1901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trends, major incidents, and change failures expose downstream stability impact.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18304" y="2880360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delivery to production disruption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18304" y="3136392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when risk becomes business risk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18304" y="3392424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into operational impact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18304" y="4114800"/>
            <a:ext cx="1901952" cy="292608"/>
          </a:xfrm>
          <a:prstGeom prst="rect">
            <a:avLst/>
          </a:prstGeom>
          <a:solidFill>
            <a:srgbClr val="F1FFF3"/>
          </a:solidFill>
          <a:ln/>
        </p:spPr>
      </p:sp>
      <p:sp>
        <p:nvSpPr>
          <p:cNvPr id="37" name="Text 35"/>
          <p:cNvSpPr/>
          <p:nvPr/>
        </p:nvSpPr>
        <p:spPr>
          <a:xfrm>
            <a:off x="4718304" y="4114800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+ Jira + ServiceNow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803136" y="1828800"/>
            <a:ext cx="2084832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803136" y="1828800"/>
            <a:ext cx="2084832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0" name="Text 38"/>
          <p:cNvSpPr/>
          <p:nvPr/>
        </p:nvSpPr>
        <p:spPr>
          <a:xfrm>
            <a:off x="6894576" y="1920240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RAG-Powered Intelligence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894576" y="2249424"/>
            <a:ext cx="1901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+ LLM Synthesis Engine connects signals across all systems.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894576" y="2880360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&amp; connects cross-program signals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894576" y="3136392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LLM to identify root causes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894576" y="3392424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portfolio intelligence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894576" y="4114800"/>
            <a:ext cx="1901952" cy="2926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6" name="Shape 44"/>
          <p:cNvSpPr/>
          <p:nvPr/>
        </p:nvSpPr>
        <p:spPr>
          <a:xfrm>
            <a:off x="6940296" y="4160520"/>
            <a:ext cx="182880" cy="1828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7" name="Text 45"/>
          <p:cNvSpPr/>
          <p:nvPr/>
        </p:nvSpPr>
        <p:spPr>
          <a:xfrm>
            <a:off x="6940296" y="41422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187184" y="411480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RAG-powered intelligence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74320" y="4572000"/>
            <a:ext cx="8595360" cy="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0" name="Text 48"/>
          <p:cNvSpPr/>
          <p:nvPr/>
        </p:nvSpPr>
        <p:spPr>
          <a:xfrm>
            <a:off x="274320" y="44805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Progress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74320" y="4736592"/>
            <a:ext cx="2148840" cy="256032"/>
          </a:xfrm>
          <a:prstGeom prst="rect">
            <a:avLst/>
          </a:prstGeom>
          <a:solidFill>
            <a:srgbClr val="D0D8E8"/>
          </a:solidFill>
          <a:ln/>
        </p:spPr>
      </p:sp>
      <p:sp>
        <p:nvSpPr>
          <p:cNvPr id="52" name="Text 50"/>
          <p:cNvSpPr/>
          <p:nvPr/>
        </p:nvSpPr>
        <p:spPr>
          <a:xfrm>
            <a:off x="274320" y="4745736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Only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423160" y="4736592"/>
            <a:ext cx="2148840" cy="2560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54" name="Text 52"/>
          <p:cNvSpPr/>
          <p:nvPr/>
        </p:nvSpPr>
        <p:spPr>
          <a:xfrm>
            <a:off x="2423160" y="4745736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+ Jira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572000" y="4736592"/>
            <a:ext cx="2148840" cy="256032"/>
          </a:xfrm>
          <a:prstGeom prst="rect">
            <a:avLst/>
          </a:prstGeom>
          <a:solidFill>
            <a:srgbClr val="76B7C8"/>
          </a:solidFill>
          <a:ln/>
        </p:spPr>
      </p:sp>
      <p:sp>
        <p:nvSpPr>
          <p:cNvPr id="56" name="Text 54"/>
          <p:cNvSpPr/>
          <p:nvPr/>
        </p:nvSpPr>
        <p:spPr>
          <a:xfrm>
            <a:off x="4572000" y="4745736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ServiceNow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720840" y="4736592"/>
            <a:ext cx="2148840" cy="2560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8" name="Text 56"/>
          <p:cNvSpPr/>
          <p:nvPr/>
        </p:nvSpPr>
        <p:spPr>
          <a:xfrm>
            <a:off x="6720840" y="4745736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RAG-powered Intelligence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74320" y="501091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Reporting → Proactive Portfolio Intelligence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274320" y="5010912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DELIVERY INTELLIGENCE LAYER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8686800" y="501091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2026-04-23T03:13:16Z</dcterms:created>
  <dcterms:modified xsi:type="dcterms:W3CDTF">2026-04-23T03:13:16Z</dcterms:modified>
</cp:coreProperties>
</file>